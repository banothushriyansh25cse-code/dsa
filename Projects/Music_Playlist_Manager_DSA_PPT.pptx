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autoCompressPictures="0" saveSubsetFonts="1">
  <p:sldMasterIdLst>
    <p:sldMasterId id="2147483648" r:id="rId1"/>
  </p:sldMasterIdLst>
  <p:notesMasterIdLst>
    <p:notesMasterId r:id="rId2"/>
  </p:notes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9" r:id="rId14"/>
  </p:sldIdLst>
  <p:sldSz type="screen16x9" cy="5143500" cx="9144000"/>
  <p:notesSz cx="5143500" cy="9144000"/>
  <p:defaultTextStyle>
    <a:lvl1pPr algn="l" defTabSz="914400" eaLnBrk="1" hangingPunct="1" latinLnBrk="0" marL="0" rtl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>
  <p:showPr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214" d="100"/>
          <a:sy n="214" d="100"/>
        </p:scale>
        <p:origin x="264" y="174"/>
      </p:cViewPr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tableStyles" Target="tableStyles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tx1="dk1" tx2="dk2" hlink="hlink" folHlink="folHlink"/>
  <p:notesStyle>
    <a:lvl1pPr algn="l" defTabSz="914400" eaLnBrk="1" hangingPunct="1" latinLnBrk="0" marL="0" rtl="0">
      <a:defRPr sz="12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2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2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2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2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"1.0" encoding="UTF-8" standalone="yes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"1.0" encoding="UTF-8" standalone="yes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2.xml.rels><?xml version="1.0" encoding="UTF-8" standalone="yes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0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581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582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0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591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592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6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597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598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1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0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603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9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10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611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2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2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62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2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4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64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7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48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649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3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5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65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9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60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661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8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69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670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6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77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678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5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SLIDE">
    <p:bg>
      <p:bgPr>
        <a:solidFill>
          <a:srgbClr val="1F2A44"/>
        </a:solidFill>
        <a:effectLst/>
      </p:bgPr>
    </p:bg>
    <p:spTree>
      <p:nvGrpSpPr>
        <p:cNvPr id="1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7" name="Shape 0"/>
          <p:cNvSpPr/>
          <p:nvPr/>
        </p:nvSpPr>
        <p:spPr>
          <a:xfrm>
            <a:off x="640080" y="2788920"/>
            <a:ext cx="1097280" cy="54864"/>
          </a:xfrm>
          <a:prstGeom prst="rect"/>
          <a:solidFill>
            <a:srgbClr val="8FA9C4"/>
          </a:solidFill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2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3" name="Shape 0"/>
          <p:cNvSpPr/>
          <p:nvPr/>
        </p:nvSpPr>
        <p:spPr>
          <a:xfrm>
            <a:off x="0" y="0"/>
            <a:ext cx="9144000" cy="109728"/>
          </a:xfrm>
          <a:prstGeom prst="rect"/>
          <a:solidFill>
            <a:srgbClr val="1F2A44"/>
          </a:solidFill>
        </p:spPr>
      </p:sp>
      <p:sp>
        <p:nvSpPr>
          <p:cNvPr id="1048584" name="Shape 1"/>
          <p:cNvSpPr/>
          <p:nvPr/>
        </p:nvSpPr>
        <p:spPr>
          <a:xfrm>
            <a:off x="548640" y="960120"/>
            <a:ext cx="8046720" cy="27432"/>
          </a:xfrm>
          <a:prstGeom prst="rect"/>
          <a:solidFill>
            <a:srgbClr val="2E5A88"/>
          </a:solidFill>
        </p:spPr>
      </p:sp>
      <p:sp>
        <p:nvSpPr>
          <p:cNvPr id="1048585" name="Text 2"/>
          <p:cNvSpPr>
            <a:spLocks noGrp="1"/>
          </p:cNvSpPr>
          <p:nvPr>
            <p:ph type="title" idx="102" hasCustomPrompt="1"/>
          </p:nvPr>
        </p:nvSpPr>
        <p:spPr>
          <a:xfrm>
            <a:off x="548640" y="274320"/>
            <a:ext cx="8046720" cy="640080"/>
          </a:xfrm>
          <a:prstGeom prst="rect"/>
          <a:noFill/>
        </p:spPr>
        <p:txBody>
          <a:bodyPr rtlCol="0" wrap="square"/>
          <a:lstStyle>
            <a:lvl1pPr indent="0" marL="0">
              <a:buNone/>
              <a:defRPr b="1" dirty="0" sz="2800" lang="en-US">
                <a:solidFill>
                  <a:srgbClr val="1F2A44"/>
                </a:solidFill>
              </a:defRPr>
            </a:lvl1pPr>
          </a:lstStyle>
          <a:p>
            <a:pPr indent="0" marL="0">
              <a:buNone/>
            </a:pPr>
            <a:endParaRPr dirty="0" sz="2800" lang="en-US"/>
          </a:p>
        </p:txBody>
      </p:sp>
      <p:sp>
        <p:nvSpPr>
          <p:cNvPr id="104858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/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/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sldLayoutIdLst>
    <p:sldLayoutId id="2147483649" r:id="rId1"/>
    <p:sldLayoutId id="2147483650" r:id="rId2"/>
    <p:sldLayoutId id="2147483651" r:id="rId3"/>
  </p:sldLayoutIdLst>
  <p:hf dt="0" ftr="0" hdr="0" sldNum="0"/>
  <p:txStyles>
    <p:titleStyle>
      <a:lvl1pPr algn="ctr" defTabSz="914400" eaLnBrk="1" hangingPunct="1" latinLnBrk="0" rtl="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342900" latinLnBrk="0" marL="342900" rtl="0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85750" latinLnBrk="0" marL="742950" rtl="0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8" name="Text 0"/>
          <p:cNvSpPr txBox="1"/>
          <p:nvPr/>
        </p:nvSpPr>
        <p:spPr>
          <a:xfrm>
            <a:off x="640080" y="1371600"/>
            <a:ext cx="7863840" cy="82296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4000" lang="en-US">
                <a:solidFill>
                  <a:srgbClr val="FFFFFF"/>
                </a:solidFill>
              </a:rPr>
              <a:t>Music Playlist Manager</a:t>
            </a:r>
            <a:endParaRPr dirty="0" sz="4000" lang="en-US"/>
          </a:p>
        </p:txBody>
      </p:sp>
      <p:sp>
        <p:nvSpPr>
          <p:cNvPr id="1048579" name="Text 1"/>
          <p:cNvSpPr txBox="1"/>
          <p:nvPr/>
        </p:nvSpPr>
        <p:spPr>
          <a:xfrm>
            <a:off x="640080" y="2103120"/>
            <a:ext cx="7863840" cy="45720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2000" lang="en-US">
                <a:solidFill>
                  <a:srgbClr val="C9D6E4"/>
                </a:solidFill>
              </a:rPr>
              <a:t>Data Structures and Algorithms (DSA) Project</a:t>
            </a:r>
            <a:endParaRPr dirty="0" sz="2000"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7" name="Text 2"/>
          <p:cNvSpPr>
            <a:spLocks noGrp="1"/>
          </p:cNvSpPr>
          <p:nvPr>
            <p:ph type="title" idx="102" hasCustomPrompt="1"/>
          </p:nvPr>
        </p:nvSpPr>
        <p:spPr>
          <a:xfrm>
            <a:off x="548640" y="274320"/>
            <a:ext cx="8046720" cy="6400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2800" lang="en-US">
                <a:solidFill>
                  <a:srgbClr val="1F2A44"/>
                </a:solidFill>
              </a:rPr>
              <a:t>Introduction and Problem Statement</a:t>
            </a:r>
            <a:endParaRPr dirty="0" sz="2800" lang="en-US"/>
          </a:p>
        </p:txBody>
      </p:sp>
      <p:sp>
        <p:nvSpPr>
          <p:cNvPr id="1048588" name="Text 1"/>
          <p:cNvSpPr txBox="1"/>
          <p:nvPr/>
        </p:nvSpPr>
        <p:spPr>
          <a:xfrm>
            <a:off x="548640" y="1234440"/>
            <a:ext cx="8046720" cy="3291840"/>
          </a:xfrm>
          <a:prstGeom prst="rect"/>
          <a:noFill/>
        </p:spPr>
        <p:txBody>
          <a:bodyPr anchor="t" bIns="0" lIns="0" rIns="0" rtlCol="0" tIns="0" wrap="square"/>
          <a:p>
            <a:pPr indent="-228600" marL="228600">
              <a:spcAft>
                <a:spcPts val="1000"/>
              </a:spcAft>
              <a:buSzPct val="100000"/>
              <a:buChar char="•"/>
            </a:pPr>
            <a:r>
              <a:rPr dirty="0" sz="1800" lang="en-US">
                <a:solidFill>
                  <a:srgbClr val="1F2937"/>
                </a:solidFill>
              </a:rPr>
              <a:t>A playlist is a collection of song records that must be added, viewed, searched and ordered.</a:t>
            </a:r>
            <a:endParaRPr dirty="0" sz="1800" lang="en-US"/>
          </a:p>
          <a:p>
            <a:pPr indent="-228600" marL="228600">
              <a:spcAft>
                <a:spcPts val="1000"/>
              </a:spcAft>
              <a:buSzPct val="100000"/>
              <a:buChar char="•"/>
            </a:pPr>
            <a:r>
              <a:rPr dirty="0" sz="1800" lang="en-US">
                <a:solidFill>
                  <a:srgbClr val="1F2937"/>
                </a:solidFill>
              </a:rPr>
              <a:t>Project: a menu-driven console application in C for managing a music playlist.</a:t>
            </a:r>
            <a:endParaRPr dirty="0" sz="1800" lang="en-US"/>
          </a:p>
          <a:p>
            <a:pPr indent="-228600" marL="228600">
              <a:spcAft>
                <a:spcPts val="1000"/>
              </a:spcAft>
              <a:buSzPct val="100000"/>
              <a:buChar char="•"/>
            </a:pPr>
            <a:r>
              <a:rPr dirty="0" sz="1800" lang="en-US">
                <a:solidFill>
                  <a:srgbClr val="1F2937"/>
                </a:solidFill>
              </a:rPr>
              <a:t>Problem: store songs (name and duration) and support adding, displaying, searching and sorting them, with safe input handling.</a:t>
            </a:r>
            <a:endParaRPr dirty="0" sz="1800" lang="en-US"/>
          </a:p>
          <a:p>
            <a:pPr indent="-228600" marL="228600">
              <a:spcAft>
                <a:spcPts val="1000"/>
              </a:spcAft>
              <a:buSzPct val="100000"/>
              <a:buChar char="•"/>
            </a:pPr>
            <a:r>
              <a:rPr dirty="0" sz="1800" lang="en-US">
                <a:solidFill>
                  <a:srgbClr val="1F2937"/>
                </a:solidFill>
              </a:rPr>
              <a:t>Applies core DSA concepts: structures, arrays, linear search and bubble sort.</a:t>
            </a:r>
            <a:endParaRPr dirty="0" sz="1800" lang="en-US"/>
          </a:p>
        </p:txBody>
      </p:sp>
      <p:sp>
        <p:nvSpPr>
          <p:cNvPr id="104858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/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2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3" name="Text 2"/>
          <p:cNvSpPr>
            <a:spLocks noGrp="1"/>
          </p:cNvSpPr>
          <p:nvPr>
            <p:ph type="title" idx="102" hasCustomPrompt="1"/>
          </p:nvPr>
        </p:nvSpPr>
        <p:spPr>
          <a:xfrm>
            <a:off x="548640" y="274320"/>
            <a:ext cx="8046720" cy="6400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2800" lang="en-US">
                <a:solidFill>
                  <a:srgbClr val="1F2A44"/>
                </a:solidFill>
              </a:rPr>
              <a:t>Objectives</a:t>
            </a:r>
            <a:endParaRPr dirty="0" sz="2800" lang="en-US"/>
          </a:p>
        </p:txBody>
      </p:sp>
      <p:sp>
        <p:nvSpPr>
          <p:cNvPr id="1048594" name="Text 1"/>
          <p:cNvSpPr txBox="1"/>
          <p:nvPr/>
        </p:nvSpPr>
        <p:spPr>
          <a:xfrm>
            <a:off x="548640" y="1234440"/>
            <a:ext cx="8046720" cy="3291840"/>
          </a:xfrm>
          <a:prstGeom prst="rect"/>
          <a:noFill/>
        </p:spPr>
        <p:txBody>
          <a:bodyPr anchor="t" bIns="0" lIns="0" rIns="0" rtlCol="0" tIns="0" wrap="square"/>
          <a:p>
            <a:pPr indent="-228600" marL="228600">
              <a:spcAft>
                <a:spcPts val="1000"/>
              </a:spcAft>
              <a:buSzPct val="100000"/>
              <a:buChar char="•"/>
            </a:pPr>
            <a:r>
              <a:rPr dirty="0" sz="1800" lang="en-US">
                <a:solidFill>
                  <a:srgbClr val="1F2937"/>
                </a:solidFill>
              </a:rPr>
              <a:t>Store related song data using an array of structures.</a:t>
            </a:r>
            <a:endParaRPr dirty="0" sz="1800" lang="en-US"/>
          </a:p>
          <a:p>
            <a:pPr indent="-228600" marL="228600">
              <a:spcAft>
                <a:spcPts val="1000"/>
              </a:spcAft>
              <a:buSzPct val="100000"/>
              <a:buChar char="•"/>
            </a:pPr>
            <a:r>
              <a:rPr dirty="0" sz="1800" lang="en-US">
                <a:solidFill>
                  <a:srgbClr val="1F2937"/>
                </a:solidFill>
              </a:rPr>
              <a:t>Find a song by name using linear search.</a:t>
            </a:r>
            <a:endParaRPr dirty="0" sz="1800" lang="en-US"/>
          </a:p>
          <a:p>
            <a:pPr indent="-228600" marL="228600">
              <a:spcAft>
                <a:spcPts val="1000"/>
              </a:spcAft>
              <a:buSzPct val="100000"/>
              <a:buChar char="•"/>
            </a:pPr>
            <a:r>
              <a:rPr dirty="0" sz="1800" lang="en-US">
                <a:solidFill>
                  <a:srgbClr val="1F2937"/>
                </a:solidFill>
              </a:rPr>
              <a:t>Arrange songs alphabetically using bubble sort.</a:t>
            </a:r>
            <a:endParaRPr dirty="0" sz="1800" lang="en-US"/>
          </a:p>
          <a:p>
            <a:pPr indent="-228600" marL="228600">
              <a:spcAft>
                <a:spcPts val="1000"/>
              </a:spcAft>
              <a:buSzPct val="100000"/>
              <a:buChar char="•"/>
            </a:pPr>
            <a:r>
              <a:rPr dirty="0" sz="1800" lang="en-US">
                <a:solidFill>
                  <a:srgbClr val="1F2937"/>
                </a:solidFill>
              </a:rPr>
              <a:t>Provide a simple menu-driven interface.</a:t>
            </a:r>
            <a:endParaRPr dirty="0" sz="1800" lang="en-US"/>
          </a:p>
          <a:p>
            <a:pPr indent="-228600" marL="228600">
              <a:spcAft>
                <a:spcPts val="1000"/>
              </a:spcAft>
              <a:buSzPct val="100000"/>
              <a:buChar char="•"/>
            </a:pPr>
            <a:r>
              <a:rPr dirty="0" sz="1800" lang="en-US">
                <a:solidFill>
                  <a:srgbClr val="1F2937"/>
                </a:solidFill>
              </a:rPr>
              <a:t>Validate all input: empty names, non-numeric values, invalid choices, full playlist.</a:t>
            </a:r>
            <a:endParaRPr dirty="0" sz="1800" lang="en-US"/>
          </a:p>
        </p:txBody>
      </p:sp>
      <p:sp>
        <p:nvSpPr>
          <p:cNvPr id="104859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/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9" name="Text 2"/>
          <p:cNvSpPr>
            <a:spLocks noGrp="1"/>
          </p:cNvSpPr>
          <p:nvPr>
            <p:ph type="title" idx="102" hasCustomPrompt="1"/>
          </p:nvPr>
        </p:nvSpPr>
        <p:spPr>
          <a:xfrm>
            <a:off x="548640" y="274320"/>
            <a:ext cx="8046720" cy="6400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2800" lang="en-US">
                <a:solidFill>
                  <a:srgbClr val="1F2A44"/>
                </a:solidFill>
              </a:rPr>
              <a:t>Features and Functions</a:t>
            </a:r>
            <a:endParaRPr dirty="0" sz="2800" lang="en-US"/>
          </a:p>
        </p:txBody>
      </p:sp>
      <p:graphicFrame>
        <p:nvGraphicFramePr>
          <p:cNvPr id="4194304" name="Table 0"/>
          <p:cNvGraphicFramePr>
            <a:graphicFrameLocks noGrp="1"/>
          </p:cNvGraphicFramePr>
          <p:nvPr/>
        </p:nvGraphicFramePr>
        <p:xfrm>
          <a:off x="548640" y="1234440"/>
          <a:ext cx="8046720" cy="2261616"/>
        </p:xfrm>
        <a:graphic>
          <a:graphicData uri="http://schemas.openxmlformats.org/drawingml/2006/table">
            <a:tbl>
              <a:tblPr/>
              <a:tblGrid>
                <a:gridCol w="2377440"/>
                <a:gridCol w="5669280"/>
              </a:tblGrid>
              <a:tr h="0"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b="1" dirty="0" sz="1400" lang="en-US">
                          <a:solidFill>
                            <a:srgbClr val="FFFFFF"/>
                          </a:solidFill>
                        </a:rPr>
                        <a:t>Function</a:t>
                      </a:r>
                      <a:endParaRPr dirty="0" sz="1400" lang="en-US"/>
                    </a:p>
                  </a:txBody>
                  <a:tcPr marT="54864" marB="54864" anchor="ctr">
                    <a:lnL w="9525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A88"/>
                    </a:solidFill>
                  </a:tcPr>
                </a:tc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b="1" dirty="0" sz="1400" lang="en-US">
                          <a:solidFill>
                            <a:srgbClr val="FFFFFF"/>
                          </a:solidFill>
                        </a:rPr>
                        <a:t>Purpose</a:t>
                      </a:r>
                      <a:endParaRPr dirty="0" sz="1400" lang="en-US"/>
                    </a:p>
                  </a:txBody>
                  <a:tcPr marT="54864" marB="54864" anchor="ctr">
                    <a:lnL w="9525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A88"/>
                    </a:solidFill>
                  </a:tcPr>
                </a:tc>
              </a:tr>
              <a:tr h="0"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dirty="0" sz="1400" lang="en-US">
                          <a:solidFill>
                            <a:srgbClr val="1F2937"/>
                          </a:solidFill>
                        </a:rPr>
                        <a:t>addSong()</a:t>
                      </a:r>
                      <a:endParaRPr dirty="0" sz="1400" lang="en-US"/>
                    </a:p>
                  </a:txBody>
                  <a:tcPr marT="54864" marB="54864" anchor="ctr">
                    <a:lnL w="9525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dirty="0" sz="1400" lang="en-US">
                          <a:solidFill>
                            <a:srgbClr val="1F2937"/>
                          </a:solidFill>
                        </a:rPr>
                        <a:t>Reads name and duration and adds the song to the playlist</a:t>
                      </a:r>
                      <a:endParaRPr dirty="0" sz="1400" lang="en-US"/>
                    </a:p>
                  </a:txBody>
                  <a:tcPr marT="54864" marB="54864" anchor="ctr">
                    <a:lnL w="9525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dirty="0" sz="1400" lang="en-US">
                          <a:solidFill>
                            <a:srgbClr val="1F2937"/>
                          </a:solidFill>
                        </a:rPr>
                        <a:t>displaySongs()</a:t>
                      </a:r>
                      <a:endParaRPr dirty="0" sz="1400" lang="en-US"/>
                    </a:p>
                  </a:txBody>
                  <a:tcPr marT="54864" marB="54864" anchor="ctr">
                    <a:lnL w="9525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dirty="0" sz="1400" lang="en-US">
                          <a:solidFill>
                            <a:srgbClr val="1F2937"/>
                          </a:solidFill>
                        </a:rPr>
                        <a:t>Displays all songs with number and duration</a:t>
                      </a:r>
                      <a:endParaRPr dirty="0" sz="1400" lang="en-US"/>
                    </a:p>
                  </a:txBody>
                  <a:tcPr marT="54864" marB="54864" anchor="ctr">
                    <a:lnL w="9525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dirty="0" sz="1400" lang="en-US">
                          <a:solidFill>
                            <a:srgbClr val="1F2937"/>
                          </a:solidFill>
                        </a:rPr>
                        <a:t>searchSong()</a:t>
                      </a:r>
                      <a:endParaRPr dirty="0" sz="1400" lang="en-US"/>
                    </a:p>
                  </a:txBody>
                  <a:tcPr marT="54864" marB="54864" anchor="ctr">
                    <a:lnL w="9525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dirty="0" sz="1400" lang="en-US">
                          <a:solidFill>
                            <a:srgbClr val="1F2937"/>
                          </a:solidFill>
                        </a:rPr>
                        <a:t>Finds a song by name (linear search)</a:t>
                      </a:r>
                      <a:endParaRPr dirty="0" sz="1400" lang="en-US"/>
                    </a:p>
                  </a:txBody>
                  <a:tcPr marT="54864" marB="54864" anchor="ctr">
                    <a:lnL w="9525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dirty="0" sz="1400" lang="en-US">
                          <a:solidFill>
                            <a:srgbClr val="1F2937"/>
                          </a:solidFill>
                        </a:rPr>
                        <a:t>sortSongs()</a:t>
                      </a:r>
                      <a:endParaRPr dirty="0" sz="1400" lang="en-US"/>
                    </a:p>
                  </a:txBody>
                  <a:tcPr marT="54864" marB="54864" anchor="ctr">
                    <a:lnL w="9525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dirty="0" sz="1400" lang="en-US">
                          <a:solidFill>
                            <a:srgbClr val="1F2937"/>
                          </a:solidFill>
                        </a:rPr>
                        <a:t>Sorts the playlist alphabetically (bubble sort)</a:t>
                      </a:r>
                      <a:endParaRPr dirty="0" sz="1400" lang="en-US"/>
                    </a:p>
                  </a:txBody>
                  <a:tcPr marT="54864" marB="54864" anchor="ctr">
                    <a:lnL w="9525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dirty="0" sz="1400" lang="en-US">
                          <a:solidFill>
                            <a:srgbClr val="1F2937"/>
                          </a:solidFill>
                        </a:rPr>
                        <a:t>getString() / getInt()</a:t>
                      </a:r>
                      <a:endParaRPr dirty="0" sz="1400" lang="en-US"/>
                    </a:p>
                  </a:txBody>
                  <a:tcPr marT="54864" marB="54864" anchor="ctr">
                    <a:lnL w="9525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dirty="0" sz="1400" lang="en-US">
                          <a:solidFill>
                            <a:srgbClr val="1F2937"/>
                          </a:solidFill>
                        </a:rPr>
                        <a:t>Validated text and integer input</a:t>
                      </a:r>
                      <a:endParaRPr dirty="0" sz="1400" lang="en-US"/>
                    </a:p>
                  </a:txBody>
                  <a:tcPr marT="54864" marB="54864" anchor="ctr">
                    <a:lnL w="9525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dirty="0" sz="1400" lang="en-US">
                          <a:solidFill>
                            <a:srgbClr val="1F2937"/>
                          </a:solidFill>
                        </a:rPr>
                        <a:t>main()</a:t>
                      </a:r>
                      <a:endParaRPr dirty="0" sz="1400" lang="en-US"/>
                    </a:p>
                  </a:txBody>
                  <a:tcPr marT="54864" marB="54864" anchor="ctr">
                    <a:lnL w="9525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dirty="0" sz="1400" lang="en-US">
                          <a:solidFill>
                            <a:srgbClr val="1F2937"/>
                          </a:solidFill>
                        </a:rPr>
                        <a:t>Menu loop using do-while and switch</a:t>
                      </a:r>
                      <a:endParaRPr dirty="0" sz="1400" lang="en-US"/>
                    </a:p>
                  </a:txBody>
                  <a:tcPr marT="54864" marB="54864" anchor="ctr">
                    <a:lnL w="9525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104860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/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4" name="Text 2"/>
          <p:cNvSpPr>
            <a:spLocks noGrp="1"/>
          </p:cNvSpPr>
          <p:nvPr>
            <p:ph type="title" idx="102" hasCustomPrompt="1"/>
          </p:nvPr>
        </p:nvSpPr>
        <p:spPr>
          <a:xfrm>
            <a:off x="548640" y="274320"/>
            <a:ext cx="8046720" cy="6400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2800" lang="en-US">
                <a:solidFill>
                  <a:srgbClr val="1F2A44"/>
                </a:solidFill>
              </a:rPr>
              <a:t>Data Structure Used</a:t>
            </a:r>
            <a:endParaRPr dirty="0" sz="2800" lang="en-US"/>
          </a:p>
        </p:txBody>
      </p:sp>
      <p:sp>
        <p:nvSpPr>
          <p:cNvPr id="1048605" name="Text 1"/>
          <p:cNvSpPr txBox="1"/>
          <p:nvPr/>
        </p:nvSpPr>
        <p:spPr>
          <a:xfrm>
            <a:off x="548640" y="1188720"/>
            <a:ext cx="3840480" cy="36576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800" lang="en-US">
                <a:solidFill>
                  <a:srgbClr val="2E5A88"/>
                </a:solidFill>
              </a:rPr>
              <a:t>Structure and array of structures</a:t>
            </a:r>
            <a:endParaRPr dirty="0" sz="1800" lang="en-US"/>
          </a:p>
        </p:txBody>
      </p:sp>
      <p:sp>
        <p:nvSpPr>
          <p:cNvPr id="1048606" name="Text 2"/>
          <p:cNvSpPr txBox="1"/>
          <p:nvPr/>
        </p:nvSpPr>
        <p:spPr>
          <a:xfrm>
            <a:off x="548640" y="1645920"/>
            <a:ext cx="3840480" cy="2560320"/>
          </a:xfrm>
          <a:prstGeom prst="rect"/>
          <a:solidFill>
            <a:srgbClr val="F2F4F7"/>
          </a:solidFill>
        </p:spPr>
        <p:txBody>
          <a:bodyPr anchor="t" bIns="152400" lIns="152400" rIns="152400" rtlCol="0" tIns="152400" wrap="square"/>
          <a:p>
            <a:pPr indent="0" marL="0">
              <a:buNone/>
            </a:pPr>
            <a:r>
              <a:rPr dirty="0" sz="1500" lang="en-US">
                <a:solidFill>
                  <a:srgbClr val="1F2A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 Song</a:t>
            </a:r>
            <a:endParaRPr dirty="0" sz="1500" lang="en-US"/>
          </a:p>
          <a:p>
            <a:pPr indent="0" marL="0">
              <a:buNone/>
            </a:pPr>
            <a:r>
              <a:rPr dirty="0" sz="1500" lang="en-US">
                <a:solidFill>
                  <a:srgbClr val="1F2A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dirty="0" sz="1500" lang="en-US"/>
          </a:p>
          <a:p>
            <a:pPr indent="0" marL="0">
              <a:buNone/>
            </a:pPr>
            <a:r>
              <a:rPr dirty="0" sz="1500" lang="en-US">
                <a:solidFill>
                  <a:srgbClr val="1F2A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char name[50];</a:t>
            </a:r>
            <a:endParaRPr dirty="0" sz="1500" lang="en-US"/>
          </a:p>
          <a:p>
            <a:pPr indent="0" marL="0">
              <a:buNone/>
            </a:pPr>
            <a:r>
              <a:rPr dirty="0" sz="1500" lang="en-US">
                <a:solidFill>
                  <a:srgbClr val="1F2A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duration;</a:t>
            </a:r>
            <a:endParaRPr dirty="0" sz="1500" lang="en-US"/>
          </a:p>
          <a:p>
            <a:pPr indent="0" marL="0">
              <a:buNone/>
            </a:pPr>
            <a:r>
              <a:rPr dirty="0" sz="1500" lang="en-US">
                <a:solidFill>
                  <a:srgbClr val="1F2A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dirty="0" sz="1500" lang="en-US"/>
          </a:p>
          <a:p>
            <a:pPr indent="0" marL="0">
              <a:buNone/>
            </a:pPr>
            <a:r>
              <a:rPr dirty="0" sz="1500" lang="en-US">
                <a:solidFill>
                  <a:srgbClr val="1F2A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dirty="0" sz="1500" lang="en-US"/>
          </a:p>
          <a:p>
            <a:pPr indent="0" marL="0">
              <a:buNone/>
            </a:pPr>
            <a:r>
              <a:rPr dirty="0" sz="1500" lang="en-US">
                <a:solidFill>
                  <a:srgbClr val="1F2A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 Song playlist[50];</a:t>
            </a:r>
            <a:endParaRPr dirty="0" sz="1500" lang="en-US"/>
          </a:p>
          <a:p>
            <a:pPr indent="0" marL="0">
              <a:buNone/>
            </a:pPr>
            <a:r>
              <a:rPr dirty="0" sz="1500" lang="en-US">
                <a:solidFill>
                  <a:srgbClr val="1F2A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n = 0;</a:t>
            </a:r>
            <a:endParaRPr dirty="0" sz="1500" lang="en-US"/>
          </a:p>
        </p:txBody>
      </p:sp>
      <p:sp>
        <p:nvSpPr>
          <p:cNvPr id="1048607" name="Text 3"/>
          <p:cNvSpPr txBox="1"/>
          <p:nvPr/>
        </p:nvSpPr>
        <p:spPr>
          <a:xfrm>
            <a:off x="4754880" y="1645920"/>
            <a:ext cx="3840480" cy="2560320"/>
          </a:xfrm>
          <a:prstGeom prst="rect"/>
          <a:noFill/>
        </p:spPr>
        <p:txBody>
          <a:bodyPr anchor="t" bIns="0" lIns="0" rIns="0" rtlCol="0" tIns="0" wrap="square"/>
          <a:p>
            <a:pPr indent="-228600" marL="228600">
              <a:spcAft>
                <a:spcPts val="1000"/>
              </a:spcAft>
              <a:buSzPct val="100000"/>
              <a:buChar char="•"/>
            </a:pPr>
            <a:r>
              <a:rPr dirty="0" sz="1600" lang="en-US">
                <a:solidFill>
                  <a:srgbClr val="1F2937"/>
                </a:solidFill>
              </a:rPr>
              <a:t>Each element stores one song.</a:t>
            </a:r>
            <a:endParaRPr dirty="0" sz="1600" lang="en-US"/>
          </a:p>
          <a:p>
            <a:pPr indent="-228600" marL="228600">
              <a:spcAft>
                <a:spcPts val="1000"/>
              </a:spcAft>
              <a:buSzPct val="100000"/>
              <a:buChar char="•"/>
            </a:pPr>
            <a:r>
              <a:rPr dirty="0" sz="1600" lang="en-US">
                <a:solidFill>
                  <a:srgbClr val="1F2937"/>
                </a:solidFill>
              </a:rPr>
              <a:t>n counts songs currently stored.</a:t>
            </a:r>
            <a:endParaRPr dirty="0" sz="1600" lang="en-US"/>
          </a:p>
          <a:p>
            <a:pPr indent="-228600" marL="228600">
              <a:spcAft>
                <a:spcPts val="1000"/>
              </a:spcAft>
              <a:buSzPct val="100000"/>
              <a:buChar char="•"/>
            </a:pPr>
            <a:r>
              <a:rPr dirty="0" sz="1600" lang="en-US">
                <a:solidFill>
                  <a:srgbClr val="1F2937"/>
                </a:solidFill>
              </a:rPr>
              <a:t>Contiguous memory gives O(1) access by index.</a:t>
            </a:r>
            <a:endParaRPr dirty="0" sz="1600" lang="en-US"/>
          </a:p>
          <a:p>
            <a:pPr indent="-228600" marL="228600">
              <a:spcAft>
                <a:spcPts val="1000"/>
              </a:spcAft>
              <a:buSzPct val="100000"/>
              <a:buChar char="•"/>
            </a:pPr>
            <a:r>
              <a:rPr dirty="0" sz="1600" lang="en-US">
                <a:solidFill>
                  <a:srgbClr val="1F2937"/>
                </a:solidFill>
              </a:rPr>
              <a:t>Fixed capacity: 50 songs.</a:t>
            </a:r>
            <a:endParaRPr dirty="0" sz="1600" lang="en-US"/>
          </a:p>
        </p:txBody>
      </p:sp>
      <p:sp>
        <p:nvSpPr>
          <p:cNvPr id="104860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/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3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2" name="Text 2"/>
          <p:cNvSpPr>
            <a:spLocks noGrp="1"/>
          </p:cNvSpPr>
          <p:nvPr>
            <p:ph type="title" idx="102" hasCustomPrompt="1"/>
          </p:nvPr>
        </p:nvSpPr>
        <p:spPr>
          <a:xfrm>
            <a:off x="548640" y="274320"/>
            <a:ext cx="8046720" cy="6400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2800" lang="en-US">
                <a:solidFill>
                  <a:srgbClr val="1F2A44"/>
                </a:solidFill>
              </a:rPr>
              <a:t>Algorithms Used</a:t>
            </a:r>
            <a:endParaRPr dirty="0" sz="2800" lang="en-US"/>
          </a:p>
        </p:txBody>
      </p:sp>
      <p:sp>
        <p:nvSpPr>
          <p:cNvPr id="1048613" name="Header Linear Search"/>
          <p:cNvSpPr/>
          <p:nvPr/>
        </p:nvSpPr>
        <p:spPr>
          <a:xfrm>
            <a:off x="548640" y="1234440"/>
            <a:ext cx="3840480" cy="457200"/>
          </a:xfrm>
          <a:prstGeom prst="rect"/>
          <a:solidFill>
            <a:srgbClr val="2E5A88"/>
          </a:solidFill>
          <a:ln w="12700">
            <a:solidFill>
              <a:srgbClr val="2E5A88"/>
            </a:solidFill>
            <a:prstDash val="solid"/>
          </a:ln>
        </p:spPr>
      </p:sp>
      <p:sp>
        <p:nvSpPr>
          <p:cNvPr id="1048614" name="Text 2"/>
          <p:cNvSpPr txBox="1"/>
          <p:nvPr/>
        </p:nvSpPr>
        <p:spPr>
          <a:xfrm>
            <a:off x="548640" y="1234440"/>
            <a:ext cx="384048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800" lang="en-US">
                <a:solidFill>
                  <a:srgbClr val="FFFFFF"/>
                </a:solidFill>
              </a:rPr>
              <a:t>Linear Search</a:t>
            </a:r>
            <a:endParaRPr dirty="0" sz="1800" lang="en-US"/>
          </a:p>
        </p:txBody>
      </p:sp>
      <p:sp>
        <p:nvSpPr>
          <p:cNvPr id="1048615" name="Body Linear Search"/>
          <p:cNvSpPr/>
          <p:nvPr/>
        </p:nvSpPr>
        <p:spPr>
          <a:xfrm>
            <a:off x="548640" y="1691640"/>
            <a:ext cx="3840480" cy="2651760"/>
          </a:xfrm>
          <a:prstGeom prst="rect"/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048616" name="Text 4"/>
          <p:cNvSpPr txBox="1"/>
          <p:nvPr/>
        </p:nvSpPr>
        <p:spPr>
          <a:xfrm>
            <a:off x="685800" y="1783080"/>
            <a:ext cx="3566160" cy="2468880"/>
          </a:xfrm>
          <a:prstGeom prst="rect"/>
          <a:noFill/>
        </p:spPr>
        <p:txBody>
          <a:bodyPr anchor="t" bIns="0" lIns="0" rIns="0" rtlCol="0" tIns="0" wrap="square"/>
          <a:p>
            <a:pPr indent="-203200" marL="203200">
              <a:spcAft>
                <a:spcPts val="800"/>
              </a:spcAft>
              <a:buSzPct val="100000"/>
              <a:buChar char="•"/>
            </a:pPr>
            <a:r>
              <a:rPr dirty="0" sz="1500" lang="en-US">
                <a:solidFill>
                  <a:srgbClr val="1F2937"/>
                </a:solidFill>
              </a:rPr>
              <a:t>Compare the entered name with each song using strcmp()</a:t>
            </a:r>
            <a:endParaRPr dirty="0" sz="1500" lang="en-US"/>
          </a:p>
          <a:p>
            <a:pPr indent="-203200" marL="203200">
              <a:spcAft>
                <a:spcPts val="800"/>
              </a:spcAft>
              <a:buSzPct val="100000"/>
              <a:buChar char="•"/>
            </a:pPr>
            <a:r>
              <a:rPr dirty="0" sz="1500" lang="en-US">
                <a:solidFill>
                  <a:srgbClr val="1F2937"/>
                </a:solidFill>
              </a:rPr>
              <a:t>Stop when a match is found</a:t>
            </a:r>
            <a:endParaRPr dirty="0" sz="1500" lang="en-US"/>
          </a:p>
          <a:p>
            <a:pPr indent="-203200" marL="203200">
              <a:spcAft>
                <a:spcPts val="800"/>
              </a:spcAft>
              <a:buSzPct val="100000"/>
              <a:buChar char="•"/>
            </a:pPr>
            <a:r>
              <a:rPr dirty="0" sz="1500" lang="en-US">
                <a:solidFill>
                  <a:srgbClr val="1F2937"/>
                </a:solidFill>
              </a:rPr>
              <a:t>If the end is reached, report: Song not found</a:t>
            </a:r>
            <a:endParaRPr dirty="0" sz="1500" lang="en-US"/>
          </a:p>
          <a:p>
            <a:pPr indent="-203200" marL="203200">
              <a:spcAft>
                <a:spcPts val="800"/>
              </a:spcAft>
              <a:buSzPct val="100000"/>
              <a:buChar char="•"/>
            </a:pPr>
            <a:r>
              <a:rPr dirty="0" sz="1500" lang="en-US">
                <a:solidFill>
                  <a:srgbClr val="1F2937"/>
                </a:solidFill>
              </a:rPr>
              <a:t>Works on unsorted data</a:t>
            </a:r>
            <a:endParaRPr dirty="0" sz="1500" lang="en-US"/>
          </a:p>
        </p:txBody>
      </p:sp>
      <p:sp>
        <p:nvSpPr>
          <p:cNvPr id="1048617" name="Header Bubble Sort"/>
          <p:cNvSpPr/>
          <p:nvPr/>
        </p:nvSpPr>
        <p:spPr>
          <a:xfrm>
            <a:off x="4754880" y="1234440"/>
            <a:ext cx="3840480" cy="457200"/>
          </a:xfrm>
          <a:prstGeom prst="rect"/>
          <a:solidFill>
            <a:srgbClr val="2E5A88"/>
          </a:solidFill>
          <a:ln w="12700">
            <a:solidFill>
              <a:srgbClr val="2E5A88"/>
            </a:solidFill>
            <a:prstDash val="solid"/>
          </a:ln>
        </p:spPr>
      </p:sp>
      <p:sp>
        <p:nvSpPr>
          <p:cNvPr id="1048618" name="Text 6"/>
          <p:cNvSpPr txBox="1"/>
          <p:nvPr/>
        </p:nvSpPr>
        <p:spPr>
          <a:xfrm>
            <a:off x="4754880" y="1234440"/>
            <a:ext cx="384048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800" lang="en-US">
                <a:solidFill>
                  <a:srgbClr val="FFFFFF"/>
                </a:solidFill>
              </a:rPr>
              <a:t>Bubble Sort</a:t>
            </a:r>
            <a:endParaRPr dirty="0" sz="1800" lang="en-US"/>
          </a:p>
        </p:txBody>
      </p:sp>
      <p:sp>
        <p:nvSpPr>
          <p:cNvPr id="1048619" name="Body Bubble Sort"/>
          <p:cNvSpPr/>
          <p:nvPr/>
        </p:nvSpPr>
        <p:spPr>
          <a:xfrm>
            <a:off x="4754880" y="1691640"/>
            <a:ext cx="3840480" cy="2651760"/>
          </a:xfrm>
          <a:prstGeom prst="rect"/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048620" name="Text 8"/>
          <p:cNvSpPr txBox="1"/>
          <p:nvPr/>
        </p:nvSpPr>
        <p:spPr>
          <a:xfrm>
            <a:off x="4892040" y="1783080"/>
            <a:ext cx="3566160" cy="2468880"/>
          </a:xfrm>
          <a:prstGeom prst="rect"/>
          <a:noFill/>
        </p:spPr>
        <p:txBody>
          <a:bodyPr anchor="t" bIns="0" lIns="0" rIns="0" rtlCol="0" tIns="0" wrap="square"/>
          <a:p>
            <a:pPr indent="-203200" marL="203200">
              <a:spcAft>
                <a:spcPts val="800"/>
              </a:spcAft>
              <a:buSzPct val="100000"/>
              <a:buChar char="•"/>
            </a:pPr>
            <a:r>
              <a:rPr dirty="0" sz="1500" lang="en-US">
                <a:solidFill>
                  <a:srgbClr val="1F2937"/>
                </a:solidFill>
              </a:rPr>
              <a:t>Compare adjacent songs using strcmp()</a:t>
            </a:r>
            <a:endParaRPr dirty="0" sz="1500" lang="en-US"/>
          </a:p>
          <a:p>
            <a:pPr indent="-203200" marL="203200">
              <a:spcAft>
                <a:spcPts val="800"/>
              </a:spcAft>
              <a:buSzPct val="100000"/>
              <a:buChar char="•"/>
            </a:pPr>
            <a:r>
              <a:rPr dirty="0" sz="1500" lang="en-US">
                <a:solidFill>
                  <a:srgbClr val="1F2937"/>
                </a:solidFill>
              </a:rPr>
              <a:t>Swap them if they are out of order</a:t>
            </a:r>
            <a:endParaRPr dirty="0" sz="1500" lang="en-US"/>
          </a:p>
          <a:p>
            <a:pPr indent="-203200" marL="203200">
              <a:spcAft>
                <a:spcPts val="800"/>
              </a:spcAft>
              <a:buSzPct val="100000"/>
              <a:buChar char="•"/>
            </a:pPr>
            <a:r>
              <a:rPr dirty="0" sz="1500" lang="en-US">
                <a:solidFill>
                  <a:srgbClr val="1F2937"/>
                </a:solidFill>
              </a:rPr>
              <a:t>Repeat passes until the list is sorted</a:t>
            </a:r>
            <a:endParaRPr dirty="0" sz="1500" lang="en-US"/>
          </a:p>
          <a:p>
            <a:pPr indent="-203200" marL="203200">
              <a:spcAft>
                <a:spcPts val="800"/>
              </a:spcAft>
              <a:buSzPct val="100000"/>
              <a:buChar char="•"/>
            </a:pPr>
            <a:r>
              <a:rPr dirty="0" sz="1500" lang="en-US">
                <a:solidFill>
                  <a:srgbClr val="1F2937"/>
                </a:solidFill>
              </a:rPr>
              <a:t>Result: alphabetical order</a:t>
            </a:r>
            <a:endParaRPr dirty="0" sz="1500" lang="en-US"/>
          </a:p>
        </p:txBody>
      </p:sp>
      <p:sp>
        <p:nvSpPr>
          <p:cNvPr id="104862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/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5" name="Text 2"/>
          <p:cNvSpPr>
            <a:spLocks noGrp="1"/>
          </p:cNvSpPr>
          <p:nvPr>
            <p:ph type="title" idx="102" hasCustomPrompt="1"/>
          </p:nvPr>
        </p:nvSpPr>
        <p:spPr>
          <a:xfrm>
            <a:off x="548640" y="274320"/>
            <a:ext cx="8046720" cy="6400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2800" lang="en-US">
                <a:solidFill>
                  <a:srgbClr val="1F2A44"/>
                </a:solidFill>
              </a:rPr>
              <a:t>Program Flow</a:t>
            </a:r>
            <a:endParaRPr dirty="0" sz="2800" lang="en-US"/>
          </a:p>
        </p:txBody>
      </p:sp>
      <p:sp>
        <p:nvSpPr>
          <p:cNvPr id="1048626" name="Step 1"/>
          <p:cNvSpPr/>
          <p:nvPr/>
        </p:nvSpPr>
        <p:spPr>
          <a:xfrm>
            <a:off x="548640" y="1645920"/>
            <a:ext cx="1417320" cy="1097280"/>
          </a:xfrm>
          <a:prstGeom prst="rect"/>
          <a:solidFill>
            <a:srgbClr val="F2F4F7"/>
          </a:solidFill>
          <a:ln w="12700">
            <a:solidFill>
              <a:srgbClr val="2E5A88"/>
            </a:solidFill>
            <a:prstDash val="solid"/>
          </a:ln>
        </p:spPr>
      </p:sp>
      <p:sp>
        <p:nvSpPr>
          <p:cNvPr id="1048627" name="Text 2"/>
          <p:cNvSpPr txBox="1"/>
          <p:nvPr/>
        </p:nvSpPr>
        <p:spPr>
          <a:xfrm>
            <a:off x="548640" y="1645920"/>
            <a:ext cx="1417320" cy="1097280"/>
          </a:xfrm>
          <a:prstGeom prst="rect"/>
          <a:noFill/>
        </p:spPr>
        <p:txBody>
          <a:bodyPr anchor="ctr" bIns="76200" lIns="76200" rIns="76200" rtlCol="0" tIns="76200" wrap="square"/>
          <a:p>
            <a:pPr algn="ctr" indent="0" marL="0">
              <a:buNone/>
            </a:pPr>
            <a:r>
              <a:rPr b="1" dirty="0" sz="1400" lang="en-US">
                <a:solidFill>
                  <a:srgbClr val="1F2A44"/>
                </a:solidFill>
              </a:rPr>
              <a:t>Show menu</a:t>
            </a:r>
            <a:endParaRPr dirty="0" sz="1400" lang="en-US"/>
          </a:p>
        </p:txBody>
      </p:sp>
      <p:sp>
        <p:nvSpPr>
          <p:cNvPr id="1048628" name="Text 3"/>
          <p:cNvSpPr txBox="1"/>
          <p:nvPr/>
        </p:nvSpPr>
        <p:spPr>
          <a:xfrm>
            <a:off x="1965960" y="1645920"/>
            <a:ext cx="237744" cy="109728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dirty="0" sz="1600" lang="en-US">
                <a:solidFill>
                  <a:srgbClr val="2E5A88"/>
                </a:solidFill>
              </a:rPr>
              <a:t>→</a:t>
            </a:r>
            <a:endParaRPr dirty="0" sz="1600" lang="en-US"/>
          </a:p>
        </p:txBody>
      </p:sp>
      <p:sp>
        <p:nvSpPr>
          <p:cNvPr id="1048629" name="Step 2"/>
          <p:cNvSpPr/>
          <p:nvPr/>
        </p:nvSpPr>
        <p:spPr>
          <a:xfrm>
            <a:off x="2203704" y="1645920"/>
            <a:ext cx="1417320" cy="1097280"/>
          </a:xfrm>
          <a:prstGeom prst="rect"/>
          <a:solidFill>
            <a:srgbClr val="F2F4F7"/>
          </a:solidFill>
          <a:ln w="12700">
            <a:solidFill>
              <a:srgbClr val="2E5A88"/>
            </a:solidFill>
            <a:prstDash val="solid"/>
          </a:ln>
        </p:spPr>
      </p:sp>
      <p:sp>
        <p:nvSpPr>
          <p:cNvPr id="1048630" name="Text 5"/>
          <p:cNvSpPr txBox="1"/>
          <p:nvPr/>
        </p:nvSpPr>
        <p:spPr>
          <a:xfrm>
            <a:off x="2203704" y="1645920"/>
            <a:ext cx="1417320" cy="1097280"/>
          </a:xfrm>
          <a:prstGeom prst="rect"/>
          <a:noFill/>
        </p:spPr>
        <p:txBody>
          <a:bodyPr anchor="ctr" bIns="76200" lIns="76200" rIns="76200" rtlCol="0" tIns="76200" wrap="square"/>
          <a:p>
            <a:pPr algn="ctr" indent="0" marL="0">
              <a:buNone/>
            </a:pPr>
            <a:r>
              <a:rPr b="1" dirty="0" sz="1400" lang="en-US">
                <a:solidFill>
                  <a:srgbClr val="1F2A44"/>
                </a:solidFill>
              </a:rPr>
              <a:t>Read choice</a:t>
            </a:r>
            <a:endParaRPr dirty="0" sz="1400" lang="en-US"/>
          </a:p>
        </p:txBody>
      </p:sp>
      <p:sp>
        <p:nvSpPr>
          <p:cNvPr id="1048631" name="Text 6"/>
          <p:cNvSpPr txBox="1"/>
          <p:nvPr/>
        </p:nvSpPr>
        <p:spPr>
          <a:xfrm>
            <a:off x="3621024" y="1645920"/>
            <a:ext cx="237744" cy="109728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dirty="0" sz="1600" lang="en-US">
                <a:solidFill>
                  <a:srgbClr val="2E5A88"/>
                </a:solidFill>
              </a:rPr>
              <a:t>→</a:t>
            </a:r>
            <a:endParaRPr dirty="0" sz="1600" lang="en-US"/>
          </a:p>
        </p:txBody>
      </p:sp>
      <p:sp>
        <p:nvSpPr>
          <p:cNvPr id="1048632" name="Step 3"/>
          <p:cNvSpPr/>
          <p:nvPr/>
        </p:nvSpPr>
        <p:spPr>
          <a:xfrm>
            <a:off x="3858768" y="1645920"/>
            <a:ext cx="1417320" cy="1097280"/>
          </a:xfrm>
          <a:prstGeom prst="rect"/>
          <a:solidFill>
            <a:srgbClr val="2E5A88"/>
          </a:solidFill>
          <a:ln w="12700">
            <a:solidFill>
              <a:srgbClr val="2E5A88"/>
            </a:solidFill>
            <a:prstDash val="solid"/>
          </a:ln>
        </p:spPr>
      </p:sp>
      <p:sp>
        <p:nvSpPr>
          <p:cNvPr id="1048633" name="Text 8"/>
          <p:cNvSpPr txBox="1"/>
          <p:nvPr/>
        </p:nvSpPr>
        <p:spPr>
          <a:xfrm>
            <a:off x="3858768" y="1645920"/>
            <a:ext cx="1417320" cy="1097280"/>
          </a:xfrm>
          <a:prstGeom prst="rect"/>
          <a:noFill/>
        </p:spPr>
        <p:txBody>
          <a:bodyPr anchor="ctr" bIns="76200" lIns="76200" rIns="76200" rtlCol="0" tIns="76200" wrap="square"/>
          <a:p>
            <a:pPr algn="ctr" indent="0" marL="0">
              <a:buNone/>
            </a:pPr>
            <a:r>
              <a:rPr b="1" dirty="0" sz="1400" lang="en-US">
                <a:solidFill>
                  <a:srgbClr val="FFFFFF"/>
                </a:solidFill>
              </a:rPr>
              <a:t>Add / Display / Search / Sort</a:t>
            </a:r>
            <a:endParaRPr dirty="0" sz="1400" lang="en-US"/>
          </a:p>
        </p:txBody>
      </p:sp>
      <p:sp>
        <p:nvSpPr>
          <p:cNvPr id="1048634" name="Text 9"/>
          <p:cNvSpPr txBox="1"/>
          <p:nvPr/>
        </p:nvSpPr>
        <p:spPr>
          <a:xfrm>
            <a:off x="5276088" y="1645920"/>
            <a:ext cx="237744" cy="109728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dirty="0" sz="1600" lang="en-US">
                <a:solidFill>
                  <a:srgbClr val="2E5A88"/>
                </a:solidFill>
              </a:rPr>
              <a:t>→</a:t>
            </a:r>
            <a:endParaRPr dirty="0" sz="1600" lang="en-US"/>
          </a:p>
        </p:txBody>
      </p:sp>
      <p:sp>
        <p:nvSpPr>
          <p:cNvPr id="1048635" name="Step 4"/>
          <p:cNvSpPr/>
          <p:nvPr/>
        </p:nvSpPr>
        <p:spPr>
          <a:xfrm>
            <a:off x="5513832" y="1645920"/>
            <a:ext cx="1417320" cy="1097280"/>
          </a:xfrm>
          <a:prstGeom prst="rect"/>
          <a:solidFill>
            <a:srgbClr val="F2F4F7"/>
          </a:solidFill>
          <a:ln w="12700">
            <a:solidFill>
              <a:srgbClr val="2E5A88"/>
            </a:solidFill>
            <a:prstDash val="solid"/>
          </a:ln>
        </p:spPr>
      </p:sp>
      <p:sp>
        <p:nvSpPr>
          <p:cNvPr id="1048636" name="Text 11"/>
          <p:cNvSpPr txBox="1"/>
          <p:nvPr/>
        </p:nvSpPr>
        <p:spPr>
          <a:xfrm>
            <a:off x="5513832" y="1645920"/>
            <a:ext cx="1417320" cy="1097280"/>
          </a:xfrm>
          <a:prstGeom prst="rect"/>
          <a:noFill/>
        </p:spPr>
        <p:txBody>
          <a:bodyPr anchor="ctr" bIns="76200" lIns="76200" rIns="76200" rtlCol="0" tIns="76200" wrap="square"/>
          <a:p>
            <a:pPr algn="ctr" indent="0" marL="0">
              <a:buNone/>
            </a:pPr>
            <a:r>
              <a:rPr b="1" dirty="0" sz="1400" lang="en-US">
                <a:solidFill>
                  <a:srgbClr val="1F2A44"/>
                </a:solidFill>
              </a:rPr>
              <a:t>Return to menu</a:t>
            </a:r>
            <a:endParaRPr dirty="0" sz="1400" lang="en-US"/>
          </a:p>
        </p:txBody>
      </p:sp>
      <p:sp>
        <p:nvSpPr>
          <p:cNvPr id="1048637" name="Text 12"/>
          <p:cNvSpPr txBox="1"/>
          <p:nvPr/>
        </p:nvSpPr>
        <p:spPr>
          <a:xfrm>
            <a:off x="6931152" y="1645920"/>
            <a:ext cx="237744" cy="109728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dirty="0" sz="1600" lang="en-US">
                <a:solidFill>
                  <a:srgbClr val="2E5A88"/>
                </a:solidFill>
              </a:rPr>
              <a:t>→</a:t>
            </a:r>
            <a:endParaRPr dirty="0" sz="1600" lang="en-US"/>
          </a:p>
        </p:txBody>
      </p:sp>
      <p:sp>
        <p:nvSpPr>
          <p:cNvPr id="1048638" name="Step 5"/>
          <p:cNvSpPr/>
          <p:nvPr/>
        </p:nvSpPr>
        <p:spPr>
          <a:xfrm>
            <a:off x="7168896" y="1645920"/>
            <a:ext cx="1417320" cy="1097280"/>
          </a:xfrm>
          <a:prstGeom prst="rect"/>
          <a:solidFill>
            <a:srgbClr val="F2F4F7"/>
          </a:solidFill>
          <a:ln w="12700">
            <a:solidFill>
              <a:srgbClr val="2E5A88"/>
            </a:solidFill>
            <a:prstDash val="solid"/>
          </a:ln>
        </p:spPr>
      </p:sp>
      <p:sp>
        <p:nvSpPr>
          <p:cNvPr id="1048639" name="Text 14"/>
          <p:cNvSpPr txBox="1"/>
          <p:nvPr/>
        </p:nvSpPr>
        <p:spPr>
          <a:xfrm>
            <a:off x="7168896" y="1645920"/>
            <a:ext cx="1417320" cy="1097280"/>
          </a:xfrm>
          <a:prstGeom prst="rect"/>
          <a:noFill/>
        </p:spPr>
        <p:txBody>
          <a:bodyPr anchor="ctr" bIns="76200" lIns="76200" rIns="76200" rtlCol="0" tIns="76200" wrap="square"/>
          <a:p>
            <a:pPr algn="ctr" indent="0" marL="0">
              <a:buNone/>
            </a:pPr>
            <a:r>
              <a:rPr b="1" dirty="0" sz="1400" lang="en-US">
                <a:solidFill>
                  <a:srgbClr val="1F2A44"/>
                </a:solidFill>
              </a:rPr>
              <a:t>Exit on choice 5</a:t>
            </a:r>
            <a:endParaRPr dirty="0" sz="1400" lang="en-US"/>
          </a:p>
        </p:txBody>
      </p:sp>
      <p:sp>
        <p:nvSpPr>
          <p:cNvPr id="1048640" name="Text 15"/>
          <p:cNvSpPr txBox="1"/>
          <p:nvPr/>
        </p:nvSpPr>
        <p:spPr>
          <a:xfrm>
            <a:off x="548640" y="3108960"/>
            <a:ext cx="8046720" cy="91440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600" lang="en-US">
                <a:solidFill>
                  <a:srgbClr val="1F2937"/>
                </a:solidFill>
              </a:rPr>
              <a:t>The menu runs in a do-while loop. A switch statement calls the function for the chosen option; any value outside 1 to 5 shows an error message.</a:t>
            </a:r>
            <a:endParaRPr dirty="0" sz="1600" lang="en-US"/>
          </a:p>
        </p:txBody>
      </p:sp>
      <p:sp>
        <p:nvSpPr>
          <p:cNvPr id="104864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/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5" name="Text 2"/>
          <p:cNvSpPr>
            <a:spLocks noGrp="1"/>
          </p:cNvSpPr>
          <p:nvPr>
            <p:ph type="title" idx="102" hasCustomPrompt="1"/>
          </p:nvPr>
        </p:nvSpPr>
        <p:spPr>
          <a:xfrm>
            <a:off x="548640" y="274320"/>
            <a:ext cx="8046720" cy="6400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2800" lang="en-US">
                <a:solidFill>
                  <a:srgbClr val="1F2A44"/>
                </a:solidFill>
              </a:rPr>
              <a:t>Input Validation</a:t>
            </a:r>
            <a:endParaRPr dirty="0" sz="2800" lang="en-US"/>
          </a:p>
        </p:txBody>
      </p:sp>
      <p:graphicFrame>
        <p:nvGraphicFramePr>
          <p:cNvPr id="4194305" name="Table 0"/>
          <p:cNvGraphicFramePr>
            <a:graphicFrameLocks noGrp="1"/>
          </p:cNvGraphicFramePr>
          <p:nvPr/>
        </p:nvGraphicFramePr>
        <p:xfrm>
          <a:off x="548640" y="1234440"/>
          <a:ext cx="8046720" cy="2261616"/>
        </p:xfrm>
        <a:graphic>
          <a:graphicData uri="http://schemas.openxmlformats.org/drawingml/2006/table">
            <a:tbl>
              <a:tblPr/>
              <a:tblGrid>
                <a:gridCol w="3291840"/>
                <a:gridCol w="4754880"/>
              </a:tblGrid>
              <a:tr h="0"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b="1" dirty="0" sz="1400" lang="en-US">
                          <a:solidFill>
                            <a:srgbClr val="FFFFFF"/>
                          </a:solidFill>
                        </a:rPr>
                        <a:t>Situation</a:t>
                      </a:r>
                      <a:endParaRPr dirty="0" sz="1400" lang="en-US"/>
                    </a:p>
                  </a:txBody>
                  <a:tcPr marT="54864" marB="54864" anchor="ctr">
                    <a:lnL w="9525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A88"/>
                    </a:solidFill>
                  </a:tcPr>
                </a:tc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b="1" dirty="0" sz="1400" lang="en-US">
                          <a:solidFill>
                            <a:srgbClr val="FFFFFF"/>
                          </a:solidFill>
                        </a:rPr>
                        <a:t>Handling</a:t>
                      </a:r>
                      <a:endParaRPr dirty="0" sz="1400" lang="en-US"/>
                    </a:p>
                  </a:txBody>
                  <a:tcPr marT="54864" marB="54864" anchor="ctr">
                    <a:lnL w="9525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A88"/>
                    </a:solidFill>
                  </a:tcPr>
                </a:tc>
              </a:tr>
              <a:tr h="0"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dirty="0" sz="1400" lang="en-US">
                          <a:solidFill>
                            <a:srgbClr val="1F2937"/>
                          </a:solidFill>
                        </a:rPr>
                        <a:t>Empty song name</a:t>
                      </a:r>
                      <a:endParaRPr dirty="0" sz="1400" lang="en-US"/>
                    </a:p>
                  </a:txBody>
                  <a:tcPr marT="54864" marB="54864" anchor="ctr">
                    <a:lnL w="9525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dirty="0" sz="1400" lang="en-US">
                          <a:solidFill>
                            <a:srgbClr val="1F2937"/>
                          </a:solidFill>
                        </a:rPr>
                        <a:t>Asks again until a value is entered</a:t>
                      </a:r>
                      <a:endParaRPr dirty="0" sz="1400" lang="en-US"/>
                    </a:p>
                  </a:txBody>
                  <a:tcPr marT="54864" marB="54864" anchor="ctr">
                    <a:lnL w="9525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dirty="0" sz="1400" lang="en-US">
                          <a:solidFill>
                            <a:srgbClr val="1F2937"/>
                          </a:solidFill>
                        </a:rPr>
                        <a:t>Non-numeric duration or choice</a:t>
                      </a:r>
                      <a:endParaRPr dirty="0" sz="1400" lang="en-US"/>
                    </a:p>
                  </a:txBody>
                  <a:tcPr marT="54864" marB="54864" anchor="ctr">
                    <a:lnL w="9525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dirty="0" sz="1400" lang="en-US">
                          <a:solidFill>
                            <a:srgbClr val="1F2937"/>
                          </a:solidFill>
                        </a:rPr>
                        <a:t>Asks for a valid integer</a:t>
                      </a:r>
                      <a:endParaRPr dirty="0" sz="1400" lang="en-US"/>
                    </a:p>
                  </a:txBody>
                  <a:tcPr marT="54864" marB="54864" anchor="ctr">
                    <a:lnL w="9525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dirty="0" sz="1400" lang="en-US">
                          <a:solidFill>
                            <a:srgbClr val="1F2937"/>
                          </a:solidFill>
                        </a:rPr>
                        <a:t>Playlist already has 50 songs</a:t>
                      </a:r>
                      <a:endParaRPr dirty="0" sz="1400" lang="en-US"/>
                    </a:p>
                  </a:txBody>
                  <a:tcPr marT="54864" marB="54864" anchor="ctr">
                    <a:lnL w="9525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dirty="0" sz="1400" lang="en-US">
                          <a:solidFill>
                            <a:srgbClr val="1F2937"/>
                          </a:solidFill>
                        </a:rPr>
                        <a:t>Shows Playlist is full</a:t>
                      </a:r>
                      <a:endParaRPr dirty="0" sz="1400" lang="en-US"/>
                    </a:p>
                  </a:txBody>
                  <a:tcPr marT="54864" marB="54864" anchor="ctr">
                    <a:lnL w="9525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dirty="0" sz="1400" lang="en-US">
                          <a:solidFill>
                            <a:srgbClr val="1F2937"/>
                          </a:solidFill>
                        </a:rPr>
                        <a:t>Display with no songs</a:t>
                      </a:r>
                      <a:endParaRPr dirty="0" sz="1400" lang="en-US"/>
                    </a:p>
                  </a:txBody>
                  <a:tcPr marT="54864" marB="54864" anchor="ctr">
                    <a:lnL w="9525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dirty="0" sz="1400" lang="en-US">
                          <a:solidFill>
                            <a:srgbClr val="1F2937"/>
                          </a:solidFill>
                        </a:rPr>
                        <a:t>Shows Playlist is empty</a:t>
                      </a:r>
                      <a:endParaRPr dirty="0" sz="1400" lang="en-US"/>
                    </a:p>
                  </a:txBody>
                  <a:tcPr marT="54864" marB="54864" anchor="ctr">
                    <a:lnL w="9525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dirty="0" sz="1400" lang="en-US">
                          <a:solidFill>
                            <a:srgbClr val="1F2937"/>
                          </a:solidFill>
                        </a:rPr>
                        <a:t>Song not found</a:t>
                      </a:r>
                      <a:endParaRPr dirty="0" sz="1400" lang="en-US"/>
                    </a:p>
                  </a:txBody>
                  <a:tcPr marT="54864" marB="54864" anchor="ctr">
                    <a:lnL w="9525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dirty="0" sz="1400" lang="en-US">
                          <a:solidFill>
                            <a:srgbClr val="1F2937"/>
                          </a:solidFill>
                        </a:rPr>
                        <a:t>Shows Song not found</a:t>
                      </a:r>
                      <a:endParaRPr dirty="0" sz="1400" lang="en-US"/>
                    </a:p>
                  </a:txBody>
                  <a:tcPr marT="54864" marB="54864" anchor="ctr">
                    <a:lnL w="9525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dirty="0" sz="1400" lang="en-US">
                          <a:solidFill>
                            <a:srgbClr val="1F2937"/>
                          </a:solidFill>
                        </a:rPr>
                        <a:t>Menu choice outside 1 to 5</a:t>
                      </a:r>
                      <a:endParaRPr dirty="0" sz="1400" lang="en-US"/>
                    </a:p>
                  </a:txBody>
                  <a:tcPr marT="54864" marB="54864" anchor="ctr">
                    <a:lnL w="9525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dirty="0" sz="1400" lang="en-US">
                          <a:solidFill>
                            <a:srgbClr val="1F2937"/>
                          </a:solidFill>
                        </a:rPr>
                        <a:t>Shows Invalid choice</a:t>
                      </a:r>
                      <a:endParaRPr dirty="0" sz="1400" lang="en-US"/>
                    </a:p>
                  </a:txBody>
                  <a:tcPr marT="54864" marB="54864" anchor="ctr">
                    <a:lnL w="9525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104864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/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4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0" name="Text 2"/>
          <p:cNvSpPr>
            <a:spLocks noGrp="1"/>
          </p:cNvSpPr>
          <p:nvPr>
            <p:ph type="title" idx="102" hasCustomPrompt="1"/>
          </p:nvPr>
        </p:nvSpPr>
        <p:spPr>
          <a:xfrm>
            <a:off x="548640" y="274320"/>
            <a:ext cx="8046720" cy="6400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2800" lang="en-US">
                <a:solidFill>
                  <a:srgbClr val="1F2A44"/>
                </a:solidFill>
              </a:rPr>
              <a:t>Time and Space Complexity</a:t>
            </a:r>
            <a:endParaRPr dirty="0" sz="2800" lang="en-US"/>
          </a:p>
        </p:txBody>
      </p:sp>
      <p:graphicFrame>
        <p:nvGraphicFramePr>
          <p:cNvPr id="4194306" name="Table 0"/>
          <p:cNvGraphicFramePr>
            <a:graphicFrameLocks noGrp="1"/>
          </p:cNvGraphicFramePr>
          <p:nvPr/>
        </p:nvGraphicFramePr>
        <p:xfrm>
          <a:off x="548640" y="1234440"/>
          <a:ext cx="8046720" cy="1615440"/>
        </p:xfrm>
        <a:graphic>
          <a:graphicData uri="http://schemas.openxmlformats.org/drawingml/2006/table">
            <a:tbl>
              <a:tblPr/>
              <a:tblGrid>
                <a:gridCol w="2194560"/>
                <a:gridCol w="2194560"/>
                <a:gridCol w="2011680"/>
                <a:gridCol w="1645920"/>
              </a:tblGrid>
              <a:tr h="0"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b="1" dirty="0" sz="1400" lang="en-US">
                          <a:solidFill>
                            <a:srgbClr val="FFFFFF"/>
                          </a:solidFill>
                        </a:rPr>
                        <a:t>Operation</a:t>
                      </a:r>
                      <a:endParaRPr dirty="0" sz="1400" lang="en-US"/>
                    </a:p>
                  </a:txBody>
                  <a:tcPr marT="54864" marB="54864" anchor="ctr">
                    <a:lnL w="9525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A88"/>
                    </a:solidFill>
                  </a:tcPr>
                </a:tc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b="1" dirty="0" sz="1400" lang="en-US">
                          <a:solidFill>
                            <a:srgbClr val="FFFFFF"/>
                          </a:solidFill>
                        </a:rPr>
                        <a:t>Algorithm</a:t>
                      </a:r>
                      <a:endParaRPr dirty="0" sz="1400" lang="en-US"/>
                    </a:p>
                  </a:txBody>
                  <a:tcPr marT="54864" marB="54864" anchor="ctr">
                    <a:lnL w="9525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A88"/>
                    </a:solidFill>
                  </a:tcPr>
                </a:tc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b="1" dirty="0" sz="1400" lang="en-US">
                          <a:solidFill>
                            <a:srgbClr val="FFFFFF"/>
                          </a:solidFill>
                        </a:rPr>
                        <a:t>Time (Worst)</a:t>
                      </a:r>
                      <a:endParaRPr dirty="0" sz="1400" lang="en-US"/>
                    </a:p>
                  </a:txBody>
                  <a:tcPr marT="54864" marB="54864" anchor="ctr">
                    <a:lnL w="9525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A88"/>
                    </a:solidFill>
                  </a:tcPr>
                </a:tc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b="1" dirty="0" sz="1400" lang="en-US">
                          <a:solidFill>
                            <a:srgbClr val="FFFFFF"/>
                          </a:solidFill>
                        </a:rPr>
                        <a:t>Space</a:t>
                      </a:r>
                      <a:endParaRPr dirty="0" sz="1400" lang="en-US"/>
                    </a:p>
                  </a:txBody>
                  <a:tcPr marT="54864" marB="54864" anchor="ctr">
                    <a:lnL w="9525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A88"/>
                    </a:solidFill>
                  </a:tcPr>
                </a:tc>
              </a:tr>
              <a:tr h="0"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dirty="0" sz="1400" lang="en-US">
                          <a:solidFill>
                            <a:srgbClr val="1F2937"/>
                          </a:solidFill>
                        </a:rPr>
                        <a:t>Add Song</a:t>
                      </a:r>
                      <a:endParaRPr dirty="0" sz="1400" lang="en-US"/>
                    </a:p>
                  </a:txBody>
                  <a:tcPr marT="54864" marB="54864" anchor="ctr">
                    <a:lnL w="9525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dirty="0" sz="1400" lang="en-US">
                          <a:solidFill>
                            <a:srgbClr val="1F2937"/>
                          </a:solidFill>
                        </a:rPr>
                        <a:t>Insert at end</a:t>
                      </a:r>
                      <a:endParaRPr dirty="0" sz="1400" lang="en-US"/>
                    </a:p>
                  </a:txBody>
                  <a:tcPr marT="54864" marB="54864" anchor="ctr">
                    <a:lnL w="9525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dirty="0" sz="1400" lang="en-US">
                          <a:solidFill>
                            <a:srgbClr val="1F2937"/>
                          </a:solidFill>
                        </a:rPr>
                        <a:t>O(1)</a:t>
                      </a:r>
                      <a:endParaRPr dirty="0" sz="1400" lang="en-US"/>
                    </a:p>
                  </a:txBody>
                  <a:tcPr marT="54864" marB="54864" anchor="ctr">
                    <a:lnL w="9525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dirty="0" sz="1400" lang="en-US">
                          <a:solidFill>
                            <a:srgbClr val="1F2937"/>
                          </a:solidFill>
                        </a:rPr>
                        <a:t>O(1)</a:t>
                      </a:r>
                      <a:endParaRPr dirty="0" sz="1400" lang="en-US"/>
                    </a:p>
                  </a:txBody>
                  <a:tcPr marT="54864" marB="54864" anchor="ctr">
                    <a:lnL w="9525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dirty="0" sz="1400" lang="en-US">
                          <a:solidFill>
                            <a:srgbClr val="1F2937"/>
                          </a:solidFill>
                        </a:rPr>
                        <a:t>Display Songs</a:t>
                      </a:r>
                      <a:endParaRPr dirty="0" sz="1400" lang="en-US"/>
                    </a:p>
                  </a:txBody>
                  <a:tcPr marT="54864" marB="54864" anchor="ctr">
                    <a:lnL w="9525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dirty="0" sz="1400" lang="en-US">
                          <a:solidFill>
                            <a:srgbClr val="1F2937"/>
                          </a:solidFill>
                        </a:rPr>
                        <a:t>Traversal</a:t>
                      </a:r>
                      <a:endParaRPr dirty="0" sz="1400" lang="en-US"/>
                    </a:p>
                  </a:txBody>
                  <a:tcPr marT="54864" marB="54864" anchor="ctr">
                    <a:lnL w="9525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dirty="0" sz="1400" lang="en-US">
                          <a:solidFill>
                            <a:srgbClr val="1F2937"/>
                          </a:solidFill>
                        </a:rPr>
                        <a:t>O(n)</a:t>
                      </a:r>
                      <a:endParaRPr dirty="0" sz="1400" lang="en-US"/>
                    </a:p>
                  </a:txBody>
                  <a:tcPr marT="54864" marB="54864" anchor="ctr">
                    <a:lnL w="9525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dirty="0" sz="1400" lang="en-US">
                          <a:solidFill>
                            <a:srgbClr val="1F2937"/>
                          </a:solidFill>
                        </a:rPr>
                        <a:t>O(1)</a:t>
                      </a:r>
                      <a:endParaRPr dirty="0" sz="1400" lang="en-US"/>
                    </a:p>
                  </a:txBody>
                  <a:tcPr marT="54864" marB="54864" anchor="ctr">
                    <a:lnL w="9525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dirty="0" sz="1400" lang="en-US">
                          <a:solidFill>
                            <a:srgbClr val="1F2937"/>
                          </a:solidFill>
                        </a:rPr>
                        <a:t>Search Song</a:t>
                      </a:r>
                      <a:endParaRPr dirty="0" sz="1400" lang="en-US"/>
                    </a:p>
                  </a:txBody>
                  <a:tcPr marT="54864" marB="54864" anchor="ctr">
                    <a:lnL w="9525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dirty="0" sz="1400" lang="en-US">
                          <a:solidFill>
                            <a:srgbClr val="1F2937"/>
                          </a:solidFill>
                        </a:rPr>
                        <a:t>Linear search</a:t>
                      </a:r>
                      <a:endParaRPr dirty="0" sz="1400" lang="en-US"/>
                    </a:p>
                  </a:txBody>
                  <a:tcPr marT="54864" marB="54864" anchor="ctr">
                    <a:lnL w="9525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dirty="0" sz="1400" lang="en-US">
                          <a:solidFill>
                            <a:srgbClr val="1F2937"/>
                          </a:solidFill>
                        </a:rPr>
                        <a:t>O(n)</a:t>
                      </a:r>
                      <a:endParaRPr dirty="0" sz="1400" lang="en-US"/>
                    </a:p>
                  </a:txBody>
                  <a:tcPr marT="54864" marB="54864" anchor="ctr">
                    <a:lnL w="9525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dirty="0" sz="1400" lang="en-US">
                          <a:solidFill>
                            <a:srgbClr val="1F2937"/>
                          </a:solidFill>
                        </a:rPr>
                        <a:t>O(1)</a:t>
                      </a:r>
                      <a:endParaRPr dirty="0" sz="1400" lang="en-US"/>
                    </a:p>
                  </a:txBody>
                  <a:tcPr marT="54864" marB="54864" anchor="ctr">
                    <a:lnL w="9525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dirty="0" sz="1400" lang="en-US">
                          <a:solidFill>
                            <a:srgbClr val="1F2937"/>
                          </a:solidFill>
                        </a:rPr>
                        <a:t>Sort Songs</a:t>
                      </a:r>
                      <a:endParaRPr dirty="0" sz="1400" lang="en-US"/>
                    </a:p>
                  </a:txBody>
                  <a:tcPr marT="54864" marB="54864" anchor="ctr">
                    <a:lnL w="9525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dirty="0" sz="1400" lang="en-US">
                          <a:solidFill>
                            <a:srgbClr val="1F2937"/>
                          </a:solidFill>
                        </a:rPr>
                        <a:t>Bubble sort</a:t>
                      </a:r>
                      <a:endParaRPr dirty="0" sz="1400" lang="en-US"/>
                    </a:p>
                  </a:txBody>
                  <a:tcPr marT="54864" marB="54864" anchor="ctr">
                    <a:lnL w="9525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dirty="0" sz="1400" lang="en-US">
                          <a:solidFill>
                            <a:srgbClr val="1F2937"/>
                          </a:solidFill>
                        </a:rPr>
                        <a:t>O(n²)</a:t>
                      </a:r>
                      <a:endParaRPr dirty="0" sz="1400" lang="en-US"/>
                    </a:p>
                  </a:txBody>
                  <a:tcPr marT="54864" marB="54864" anchor="ctr">
                    <a:lnL w="9525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dirty="0" sz="1400" lang="en-US">
                          <a:solidFill>
                            <a:srgbClr val="1F2937"/>
                          </a:solidFill>
                        </a:rPr>
                        <a:t>O(1)</a:t>
                      </a:r>
                      <a:endParaRPr dirty="0" sz="1400" lang="en-US"/>
                    </a:p>
                  </a:txBody>
                  <a:tcPr marT="54864" marB="54864" anchor="ctr">
                    <a:lnL w="9525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1048651" name="Text 1"/>
          <p:cNvSpPr txBox="1"/>
          <p:nvPr/>
        </p:nvSpPr>
        <p:spPr>
          <a:xfrm>
            <a:off x="548640" y="3840480"/>
            <a:ext cx="8046720" cy="36576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400" lang="en-US">
                <a:solidFill>
                  <a:srgbClr val="6B7280"/>
                </a:solidFill>
              </a:rPr>
              <a:t>n = number of songs in the playlist (maximum 50).</a:t>
            </a:r>
            <a:endParaRPr dirty="0" sz="1400" lang="en-US"/>
          </a:p>
        </p:txBody>
      </p:sp>
      <p:sp>
        <p:nvSpPr>
          <p:cNvPr id="104865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/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4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6" name="Text 2"/>
          <p:cNvSpPr>
            <a:spLocks noGrp="1"/>
          </p:cNvSpPr>
          <p:nvPr>
            <p:ph type="title" idx="102" hasCustomPrompt="1"/>
          </p:nvPr>
        </p:nvSpPr>
        <p:spPr>
          <a:xfrm>
            <a:off x="548640" y="274320"/>
            <a:ext cx="8046720" cy="6400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2800" lang="en-US">
                <a:solidFill>
                  <a:srgbClr val="1F2A44"/>
                </a:solidFill>
              </a:rPr>
              <a:t>Sample Output</a:t>
            </a:r>
            <a:endParaRPr dirty="0" sz="2800" lang="en-US"/>
          </a:p>
        </p:txBody>
      </p:sp>
      <p:sp>
        <p:nvSpPr>
          <p:cNvPr id="1048657" name="Text 1"/>
          <p:cNvSpPr txBox="1"/>
          <p:nvPr/>
        </p:nvSpPr>
        <p:spPr>
          <a:xfrm>
            <a:off x="548640" y="1234440"/>
            <a:ext cx="8046720" cy="3200400"/>
          </a:xfrm>
          <a:prstGeom prst="rect"/>
          <a:solidFill>
            <a:srgbClr val="F2F4F7"/>
          </a:solidFill>
        </p:spPr>
        <p:txBody>
          <a:bodyPr anchor="t" bIns="177800" lIns="177800" rIns="177800" rtlCol="0" tIns="177800" wrap="square"/>
          <a:p>
            <a:pPr indent="0" marL="0">
              <a:buNone/>
            </a:pPr>
            <a:r>
              <a:rPr dirty="0" sz="1500" lang="en-US">
                <a:solidFill>
                  <a:srgbClr val="1F2A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Enter your choice: 2</a:t>
            </a:r>
            <a:endParaRPr dirty="0" sz="1500" lang="en-US"/>
          </a:p>
          <a:p>
            <a:pPr indent="0" marL="0">
              <a:buNone/>
            </a:pPr>
            <a:r>
              <a:rPr dirty="0" sz="1500" lang="en-US">
                <a:solidFill>
                  <a:srgbClr val="1F2A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dirty="0" sz="1500" lang="en-US"/>
          </a:p>
          <a:p>
            <a:pPr indent="0" marL="0">
              <a:buNone/>
            </a:pPr>
            <a:r>
              <a:rPr dirty="0" sz="1500" lang="en-US">
                <a:solidFill>
                  <a:srgbClr val="1F2A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========== MUSIC PLAYLIST ==========</a:t>
            </a:r>
            <a:endParaRPr dirty="0" sz="1500" lang="en-US"/>
          </a:p>
          <a:p>
            <a:pPr indent="0" marL="0">
              <a:buNone/>
            </a:pPr>
            <a:r>
              <a:rPr dirty="0" sz="1500" lang="en-US">
                <a:solidFill>
                  <a:srgbClr val="1F2A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Perfect          Duration: 4 minutes</a:t>
            </a:r>
            <a:endParaRPr dirty="0" sz="1500" lang="en-US"/>
          </a:p>
          <a:p>
            <a:pPr indent="0" marL="0">
              <a:buNone/>
            </a:pPr>
            <a:r>
              <a:rPr dirty="0" sz="1500" lang="en-US">
                <a:solidFill>
                  <a:srgbClr val="1F2A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Believer         Duration: 3 minutes</a:t>
            </a:r>
            <a:endParaRPr dirty="0" sz="1500" lang="en-US"/>
          </a:p>
          <a:p>
            <a:pPr indent="0" marL="0">
              <a:buNone/>
            </a:pPr>
            <a:r>
              <a:rPr dirty="0" sz="1500" lang="en-US">
                <a:solidFill>
                  <a:srgbClr val="1F2A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dirty="0" sz="1500" lang="en-US"/>
          </a:p>
          <a:p>
            <a:pPr indent="0" marL="0">
              <a:buNone/>
            </a:pPr>
            <a:r>
              <a:rPr dirty="0" sz="1500" lang="en-US">
                <a:solidFill>
                  <a:srgbClr val="1F2A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Enter your choice: 4</a:t>
            </a:r>
            <a:endParaRPr dirty="0" sz="1500" lang="en-US"/>
          </a:p>
          <a:p>
            <a:pPr indent="0" marL="0">
              <a:buNone/>
            </a:pPr>
            <a:r>
              <a:rPr dirty="0" sz="1500" lang="en-US">
                <a:solidFill>
                  <a:srgbClr val="1F2A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Playlist sorted alphabetically!</a:t>
            </a:r>
            <a:endParaRPr dirty="0" sz="1500" lang="en-US"/>
          </a:p>
          <a:p>
            <a:pPr indent="0" marL="0">
              <a:buNone/>
            </a:pPr>
            <a:r>
              <a:rPr dirty="0" sz="1500" lang="en-US">
                <a:solidFill>
                  <a:srgbClr val="1F2A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dirty="0" sz="1500" lang="en-US"/>
          </a:p>
          <a:p>
            <a:pPr indent="0" marL="0">
              <a:buNone/>
            </a:pPr>
            <a:r>
              <a:rPr dirty="0" sz="1500" lang="en-US">
                <a:solidFill>
                  <a:srgbClr val="1F2A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Believer   2. Perfect</a:t>
            </a:r>
            <a:endParaRPr dirty="0" sz="1500" lang="en-US"/>
          </a:p>
        </p:txBody>
      </p:sp>
      <p:sp>
        <p:nvSpPr>
          <p:cNvPr id="104865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/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2" name="Text 2"/>
          <p:cNvSpPr>
            <a:spLocks noGrp="1"/>
          </p:cNvSpPr>
          <p:nvPr>
            <p:ph type="title" idx="102" hasCustomPrompt="1"/>
          </p:nvPr>
        </p:nvSpPr>
        <p:spPr>
          <a:xfrm>
            <a:off x="548640" y="274320"/>
            <a:ext cx="8046720" cy="6400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2800" lang="en-US">
                <a:solidFill>
                  <a:srgbClr val="1F2A44"/>
                </a:solidFill>
              </a:rPr>
              <a:t>Limitations and Future Scope</a:t>
            </a:r>
            <a:endParaRPr dirty="0" sz="2800" lang="en-US"/>
          </a:p>
        </p:txBody>
      </p:sp>
      <p:sp>
        <p:nvSpPr>
          <p:cNvPr id="1048663" name="Text 1"/>
          <p:cNvSpPr txBox="1"/>
          <p:nvPr/>
        </p:nvSpPr>
        <p:spPr>
          <a:xfrm>
            <a:off x="548640" y="1188720"/>
            <a:ext cx="3840480" cy="36576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800" lang="en-US">
                <a:solidFill>
                  <a:srgbClr val="2E5A88"/>
                </a:solidFill>
              </a:rPr>
              <a:t>Limitations</a:t>
            </a:r>
            <a:endParaRPr dirty="0" sz="1800" lang="en-US"/>
          </a:p>
        </p:txBody>
      </p:sp>
      <p:sp>
        <p:nvSpPr>
          <p:cNvPr id="1048664" name="Text 2"/>
          <p:cNvSpPr txBox="1"/>
          <p:nvPr/>
        </p:nvSpPr>
        <p:spPr>
          <a:xfrm>
            <a:off x="548640" y="1645920"/>
            <a:ext cx="3840480" cy="2743200"/>
          </a:xfrm>
          <a:prstGeom prst="rect"/>
          <a:noFill/>
        </p:spPr>
        <p:txBody>
          <a:bodyPr anchor="t" bIns="0" lIns="0" rIns="0" rtlCol="0" tIns="0" wrap="square"/>
          <a:p>
            <a:pPr indent="-203200" marL="203200">
              <a:spcAft>
                <a:spcPts val="800"/>
              </a:spcAft>
              <a:buSzPct val="100000"/>
              <a:buChar char="•"/>
            </a:pPr>
            <a:r>
              <a:rPr dirty="0" sz="1600" lang="en-US">
                <a:solidFill>
                  <a:srgbClr val="1F2937"/>
                </a:solidFill>
              </a:rPr>
              <a:t>Fixed size of 50 songs</a:t>
            </a:r>
            <a:endParaRPr dirty="0" sz="1600" lang="en-US"/>
          </a:p>
          <a:p>
            <a:pPr indent="-203200" marL="203200">
              <a:spcAft>
                <a:spcPts val="800"/>
              </a:spcAft>
              <a:buSzPct val="100000"/>
              <a:buChar char="•"/>
            </a:pPr>
            <a:r>
              <a:rPr dirty="0" sz="1600" lang="en-US">
                <a:solidFill>
                  <a:srgbClr val="1F2937"/>
                </a:solidFill>
              </a:rPr>
              <a:t>Data lost when program exits</a:t>
            </a:r>
            <a:endParaRPr dirty="0" sz="1600" lang="en-US"/>
          </a:p>
          <a:p>
            <a:pPr indent="-203200" marL="203200">
              <a:spcAft>
                <a:spcPts val="800"/>
              </a:spcAft>
              <a:buSzPct val="100000"/>
              <a:buChar char="•"/>
            </a:pPr>
            <a:r>
              <a:rPr dirty="0" sz="1600" lang="en-US">
                <a:solidFill>
                  <a:srgbClr val="1F2937"/>
                </a:solidFill>
              </a:rPr>
              <a:t>Search and sort are case-sensitive</a:t>
            </a:r>
            <a:endParaRPr dirty="0" sz="1600" lang="en-US"/>
          </a:p>
          <a:p>
            <a:pPr indent="-203200" marL="203200">
              <a:spcAft>
                <a:spcPts val="800"/>
              </a:spcAft>
              <a:buSzPct val="100000"/>
              <a:buChar char="•"/>
            </a:pPr>
            <a:r>
              <a:rPr dirty="0" sz="1600" lang="en-US">
                <a:solidFill>
                  <a:srgbClr val="1F2937"/>
                </a:solidFill>
              </a:rPr>
              <a:t>No delete or edit option</a:t>
            </a:r>
            <a:endParaRPr dirty="0" sz="1600" lang="en-US"/>
          </a:p>
          <a:p>
            <a:pPr indent="-203200" marL="203200">
              <a:spcAft>
                <a:spcPts val="800"/>
              </a:spcAft>
              <a:buSzPct val="100000"/>
              <a:buChar char="•"/>
            </a:pPr>
            <a:r>
              <a:rPr dirty="0" sz="1600" lang="en-US">
                <a:solidFill>
                  <a:srgbClr val="1F2937"/>
                </a:solidFill>
              </a:rPr>
              <a:t>Bubble sort is slow for large lists</a:t>
            </a:r>
            <a:endParaRPr dirty="0" sz="1600" lang="en-US"/>
          </a:p>
        </p:txBody>
      </p:sp>
      <p:sp>
        <p:nvSpPr>
          <p:cNvPr id="1048665" name="Text 3"/>
          <p:cNvSpPr txBox="1"/>
          <p:nvPr/>
        </p:nvSpPr>
        <p:spPr>
          <a:xfrm>
            <a:off x="4754880" y="1188720"/>
            <a:ext cx="3840480" cy="36576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800" lang="en-US">
                <a:solidFill>
                  <a:srgbClr val="2E5A88"/>
                </a:solidFill>
              </a:rPr>
              <a:t>Future Scope</a:t>
            </a:r>
            <a:endParaRPr dirty="0" sz="1800" lang="en-US"/>
          </a:p>
        </p:txBody>
      </p:sp>
      <p:sp>
        <p:nvSpPr>
          <p:cNvPr id="1048666" name="Text 4"/>
          <p:cNvSpPr txBox="1"/>
          <p:nvPr/>
        </p:nvSpPr>
        <p:spPr>
          <a:xfrm>
            <a:off x="4754880" y="1645920"/>
            <a:ext cx="3840480" cy="2743200"/>
          </a:xfrm>
          <a:prstGeom prst="rect"/>
          <a:noFill/>
        </p:spPr>
        <p:txBody>
          <a:bodyPr anchor="t" bIns="0" lIns="0" rIns="0" rtlCol="0" tIns="0" wrap="square"/>
          <a:p>
            <a:pPr indent="-203200" marL="203200">
              <a:spcAft>
                <a:spcPts val="800"/>
              </a:spcAft>
              <a:buSzPct val="100000"/>
              <a:buChar char="•"/>
            </a:pPr>
            <a:r>
              <a:rPr dirty="0" sz="1600" lang="en-US">
                <a:solidFill>
                  <a:srgbClr val="1F2937"/>
                </a:solidFill>
              </a:rPr>
              <a:t>Delete and update songs</a:t>
            </a:r>
            <a:endParaRPr dirty="0" sz="1600" lang="en-US"/>
          </a:p>
          <a:p>
            <a:pPr indent="-203200" marL="203200">
              <a:spcAft>
                <a:spcPts val="800"/>
              </a:spcAft>
              <a:buSzPct val="100000"/>
              <a:buChar char="•"/>
            </a:pPr>
            <a:r>
              <a:rPr dirty="0" sz="1600" lang="en-US">
                <a:solidFill>
                  <a:srgbClr val="1F2937"/>
                </a:solidFill>
              </a:rPr>
              <a:t>Save and load using files</a:t>
            </a:r>
            <a:endParaRPr dirty="0" sz="1600" lang="en-US"/>
          </a:p>
          <a:p>
            <a:pPr indent="-203200" marL="203200">
              <a:spcAft>
                <a:spcPts val="800"/>
              </a:spcAft>
              <a:buSzPct val="100000"/>
              <a:buChar char="•"/>
            </a:pPr>
            <a:r>
              <a:rPr dirty="0" sz="1600" lang="en-US">
                <a:solidFill>
                  <a:srgbClr val="1F2937"/>
                </a:solidFill>
              </a:rPr>
              <a:t>Linked list for unlimited size</a:t>
            </a:r>
            <a:endParaRPr dirty="0" sz="1600" lang="en-US"/>
          </a:p>
          <a:p>
            <a:pPr indent="-203200" marL="203200">
              <a:spcAft>
                <a:spcPts val="800"/>
              </a:spcAft>
              <a:buSzPct val="100000"/>
              <a:buChar char="•"/>
            </a:pPr>
            <a:r>
              <a:rPr dirty="0" sz="1600" lang="en-US">
                <a:solidFill>
                  <a:srgbClr val="1F2937"/>
                </a:solidFill>
              </a:rPr>
              <a:t>Binary search, merge or quick sort</a:t>
            </a:r>
            <a:endParaRPr dirty="0" sz="1600" lang="en-US"/>
          </a:p>
          <a:p>
            <a:pPr indent="-203200" marL="203200">
              <a:spcAft>
                <a:spcPts val="800"/>
              </a:spcAft>
              <a:buSzPct val="100000"/>
              <a:buChar char="•"/>
            </a:pPr>
            <a:r>
              <a:rPr dirty="0" sz="1600" lang="en-US">
                <a:solidFill>
                  <a:srgbClr val="1F2937"/>
                </a:solidFill>
              </a:rPr>
              <a:t>Artist, genre, shuffle and repeat</a:t>
            </a:r>
            <a:endParaRPr dirty="0" sz="1600" lang="en-US"/>
          </a:p>
        </p:txBody>
      </p:sp>
      <p:sp>
        <p:nvSpPr>
          <p:cNvPr id="104866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/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1" name="Text 2"/>
          <p:cNvSpPr>
            <a:spLocks noGrp="1"/>
          </p:cNvSpPr>
          <p:nvPr>
            <p:ph type="title" idx="102" hasCustomPrompt="1"/>
          </p:nvPr>
        </p:nvSpPr>
        <p:spPr>
          <a:xfrm>
            <a:off x="548640" y="274320"/>
            <a:ext cx="8046720" cy="6400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2800" lang="en-US">
                <a:solidFill>
                  <a:srgbClr val="1F2A44"/>
                </a:solidFill>
              </a:rPr>
              <a:t>Conclusion</a:t>
            </a:r>
            <a:endParaRPr dirty="0" sz="2800" lang="en-US"/>
          </a:p>
        </p:txBody>
      </p:sp>
      <p:sp>
        <p:nvSpPr>
          <p:cNvPr id="1048672" name="Text 1"/>
          <p:cNvSpPr txBox="1"/>
          <p:nvPr/>
        </p:nvSpPr>
        <p:spPr>
          <a:xfrm>
            <a:off x="548640" y="1234440"/>
            <a:ext cx="8046720" cy="2194560"/>
          </a:xfrm>
          <a:prstGeom prst="rect"/>
          <a:noFill/>
        </p:spPr>
        <p:txBody>
          <a:bodyPr anchor="t" bIns="0" lIns="0" rIns="0" rtlCol="0" tIns="0" wrap="square"/>
          <a:p>
            <a:pPr indent="-228600" marL="228600">
              <a:spcAft>
                <a:spcPts val="1000"/>
              </a:spcAft>
              <a:buSzPct val="100000"/>
              <a:buChar char="•"/>
            </a:pPr>
            <a:r>
              <a:rPr dirty="0" sz="1800" lang="en-US">
                <a:solidFill>
                  <a:srgbClr val="1F2937"/>
                </a:solidFill>
              </a:rPr>
              <a:t>The project applies an array of structures, linear search and bubble sort to a practical problem.</a:t>
            </a:r>
            <a:endParaRPr dirty="0" sz="1800" lang="en-US"/>
          </a:p>
          <a:p>
            <a:pPr indent="-228600" marL="228600">
              <a:spcAft>
                <a:spcPts val="1000"/>
              </a:spcAft>
              <a:buSzPct val="100000"/>
              <a:buChar char="•"/>
            </a:pPr>
            <a:r>
              <a:rPr dirty="0" sz="1800" lang="en-US">
                <a:solidFill>
                  <a:srgbClr val="1F2937"/>
                </a:solidFill>
              </a:rPr>
              <a:t>Input validation makes the program reliable and easy to use.</a:t>
            </a:r>
            <a:endParaRPr dirty="0" sz="1800" lang="en-US"/>
          </a:p>
          <a:p>
            <a:pPr indent="-228600" marL="228600">
              <a:spcAft>
                <a:spcPts val="1000"/>
              </a:spcAft>
              <a:buSzPct val="100000"/>
              <a:buChar char="•"/>
            </a:pPr>
            <a:r>
              <a:rPr dirty="0" sz="1800" lang="en-US">
                <a:solidFill>
                  <a:srgbClr val="1F2937"/>
                </a:solidFill>
              </a:rPr>
              <a:t>It can be extended with file handling, linked lists and faster algorithms.</a:t>
            </a:r>
            <a:endParaRPr dirty="0" sz="1800" lang="en-US"/>
          </a:p>
        </p:txBody>
      </p:sp>
      <p:sp>
        <p:nvSpPr>
          <p:cNvPr id="1048673" name="Text 2"/>
          <p:cNvSpPr txBox="1"/>
          <p:nvPr/>
        </p:nvSpPr>
        <p:spPr>
          <a:xfrm>
            <a:off x="548640" y="3840480"/>
            <a:ext cx="8046720" cy="5486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2800" lang="en-US">
                <a:solidFill>
                  <a:srgbClr val="2E5A88"/>
                </a:solidFill>
              </a:rPr>
              <a:t>Thank you</a:t>
            </a:r>
            <a:endParaRPr dirty="0" sz="2800" lang="en-US"/>
          </a:p>
        </p:txBody>
      </p:sp>
      <p:sp>
        <p:nvSpPr>
          <p:cNvPr id="104867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/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  <p:sp>
        <p:nvSpPr>
          <p:cNvPr id="1048675" name="TextBox 4"/>
          <p:cNvSpPr txBox="1"/>
          <p:nvPr/>
        </p:nvSpPr>
        <p:spPr>
          <a:xfrm>
            <a:off x="334536" y="3853190"/>
            <a:ext cx="349776" cy="523220"/>
          </a:xfrm>
          <a:prstGeom prst="rect"/>
          <a:noFill/>
        </p:spPr>
        <p:txBody>
          <a:bodyPr rtlCol="0" wrap="none">
            <a:spAutoFit/>
          </a:bodyPr>
          <a:p>
            <a:r>
              <a:rPr dirty="0" sz="2800" lang="en-IN">
                <a:solidFill>
                  <a:schemeClr val="accent2">
                    <a:lumMod val="75000"/>
                  </a:schemeClr>
                </a:solidFill>
              </a:rPr>
              <a:t>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ormal Navy">
  <a:themeElements>
    <a:clrScheme name="Formal Navy">
      <a:dk1>
        <a:srgbClr val="1F2937"/>
      </a:dk1>
      <a:lt1>
        <a:srgbClr val="FFFFFF"/>
      </a:lt1>
      <a:dk2>
        <a:srgbClr val="1F2A44"/>
      </a:dk2>
      <a:lt2>
        <a:srgbClr val="F2F4F7"/>
      </a:lt2>
      <a:accent1>
        <a:srgbClr val="2E5A88"/>
      </a:accent1>
      <a:accent2>
        <a:srgbClr val="5B7DA3"/>
      </a:accent2>
      <a:accent3>
        <a:srgbClr val="8FA9C4"/>
      </a:accent3>
      <a:accent4>
        <a:srgbClr val="C9D6E4"/>
      </a:accent4>
      <a:accent5>
        <a:srgbClr val="6B7280"/>
      </a:accent5>
      <a:accent6>
        <a:srgbClr val="B45309"/>
      </a:accent6>
      <a:hlink>
        <a:srgbClr val="2E5A88"/>
      </a:hlink>
      <a:folHlink>
        <a:srgbClr val="5B7DA3"/>
      </a:folHlink>
    </a:clrScheme>
    <a:fontScheme name="Formal Navy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Office PowerPoint</Application>
  <ScaleCrop>0</ScaleCrop>
  <Company>PptxGenJS</Company>
  <LinksUpToDate>0</LinksUpToDate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PptxGenJS Presentation</dc:title>
  <dc:creator>PptxGenJS</dc:creator>
  <cp:lastModifiedBy>B. Shriyansh</cp:lastModifiedBy>
  <dcterms:created xsi:type="dcterms:W3CDTF">2026-10-06T02:07:05Z</dcterms:created>
  <dcterms:modified xsi:type="dcterms:W3CDTF">2026-10-07T03:33:14Z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9a746dd0c82541ae8dd66aaa0636b4b2_23</vt:lpwstr>
  </property>
</Properties>
</file>